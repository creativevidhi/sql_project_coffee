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9" r:id="rId1"/>
  </p:sldMasterIdLst>
  <p:sldIdLst>
    <p:sldId id="259" r:id="rId2"/>
    <p:sldId id="258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F985C"/>
    <a:srgbClr val="DDA147"/>
    <a:srgbClr val="B66952"/>
    <a:srgbClr val="B54C2D"/>
    <a:srgbClr val="B56D4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AA20905-3954-474B-A606-562BCA026DC1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DC13AB6D-DEA2-4CBB-AC69-1EF1A6AD1512}">
      <dgm:prSet/>
      <dgm:spPr/>
      <dgm:t>
        <a:bodyPr/>
        <a:lstStyle/>
        <a:p>
          <a:pPr>
            <a:defRPr cap="all"/>
          </a:pPr>
          <a:r>
            <a:rPr lang="en-US" dirty="0"/>
            <a:t>Expand by opening 3 coffee shops in top Indian cities</a:t>
          </a:r>
        </a:p>
      </dgm:t>
    </dgm:pt>
    <dgm:pt modelId="{2C752582-D9FF-4E04-A92F-827DB4BB5C48}" type="parTrans" cxnId="{4B888393-351D-4489-90C9-5A68061AB236}">
      <dgm:prSet/>
      <dgm:spPr/>
      <dgm:t>
        <a:bodyPr/>
        <a:lstStyle/>
        <a:p>
          <a:endParaRPr lang="en-US"/>
        </a:p>
      </dgm:t>
    </dgm:pt>
    <dgm:pt modelId="{9C64CC83-643C-4E12-8F97-BC19DC031190}" type="sibTrans" cxnId="{4B888393-351D-4489-90C9-5A68061AB236}">
      <dgm:prSet phldrT="01" phldr="0"/>
      <dgm:spPr/>
      <dgm:t>
        <a:bodyPr/>
        <a:lstStyle/>
        <a:p>
          <a:r>
            <a:rPr lang="en-US"/>
            <a:t>01</a:t>
          </a:r>
          <a:endParaRPr lang="en-US" dirty="0"/>
        </a:p>
      </dgm:t>
    </dgm:pt>
    <dgm:pt modelId="{53742231-981F-480A-940F-203EC2F7423F}">
      <dgm:prSet/>
      <dgm:spPr/>
      <dgm:t>
        <a:bodyPr/>
        <a:lstStyle/>
        <a:p>
          <a:pPr>
            <a:defRPr cap="all"/>
          </a:pPr>
          <a:r>
            <a:rPr lang="en-US" dirty="0"/>
            <a:t>Use historical online sales data (since Jan 2023)</a:t>
          </a:r>
        </a:p>
      </dgm:t>
    </dgm:pt>
    <dgm:pt modelId="{2FC75195-FBA1-43DE-85DD-40B4B3A2F1F3}" type="parTrans" cxnId="{F226B1C2-5D99-403A-8240-EAD6BD4D8534}">
      <dgm:prSet/>
      <dgm:spPr/>
      <dgm:t>
        <a:bodyPr/>
        <a:lstStyle/>
        <a:p>
          <a:endParaRPr lang="en-US"/>
        </a:p>
      </dgm:t>
    </dgm:pt>
    <dgm:pt modelId="{EF449C32-A7AE-4099-9E9B-9E2F736A89CE}" type="sibTrans" cxnId="{F226B1C2-5D99-403A-8240-EAD6BD4D8534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9EF41CC5-EF3B-4A6D-8229-3F1333EADFB3}">
      <dgm:prSet/>
      <dgm:spPr/>
      <dgm:t>
        <a:bodyPr/>
        <a:lstStyle/>
        <a:p>
          <a:pPr>
            <a:defRPr cap="all"/>
          </a:pPr>
          <a:r>
            <a:rPr lang="en-US" dirty="0"/>
            <a:t>Recommend best cities based on data-driven insights</a:t>
          </a:r>
        </a:p>
      </dgm:t>
    </dgm:pt>
    <dgm:pt modelId="{DAEF1C7D-B0C5-46FA-BED3-8A54E918D3E0}" type="parTrans" cxnId="{E476EEBC-7C9F-4E07-BD58-1044B9769B64}">
      <dgm:prSet/>
      <dgm:spPr/>
      <dgm:t>
        <a:bodyPr/>
        <a:lstStyle/>
        <a:p>
          <a:endParaRPr lang="en-US"/>
        </a:p>
      </dgm:t>
    </dgm:pt>
    <dgm:pt modelId="{98E6DD7C-B953-4119-9F64-9914E467ECBF}" type="sibTrans" cxnId="{E476EEBC-7C9F-4E07-BD58-1044B9769B64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579698BD-D232-4926-8D7B-29A69B90858B}" type="pres">
      <dgm:prSet presAssocID="{8AA20905-3954-474B-A606-562BCA026DC1}" presName="Name0" presStyleCnt="0">
        <dgm:presLayoutVars>
          <dgm:animLvl val="lvl"/>
          <dgm:resizeHandles val="exact"/>
        </dgm:presLayoutVars>
      </dgm:prSet>
      <dgm:spPr/>
    </dgm:pt>
    <dgm:pt modelId="{3DD5B223-886E-4FC7-BDA1-ECA869A474EC}" type="pres">
      <dgm:prSet presAssocID="{DC13AB6D-DEA2-4CBB-AC69-1EF1A6AD1512}" presName="compositeNode" presStyleCnt="0">
        <dgm:presLayoutVars>
          <dgm:bulletEnabled val="1"/>
        </dgm:presLayoutVars>
      </dgm:prSet>
      <dgm:spPr/>
    </dgm:pt>
    <dgm:pt modelId="{DA3A6BD4-857F-4C66-97FA-B1E1C180A950}" type="pres">
      <dgm:prSet presAssocID="{DC13AB6D-DEA2-4CBB-AC69-1EF1A6AD1512}" presName="bgRect" presStyleLbl="alignNode1" presStyleIdx="0" presStyleCnt="3"/>
      <dgm:spPr/>
    </dgm:pt>
    <dgm:pt modelId="{BBA91679-4684-4A04-8AEB-03038C78A75C}" type="pres">
      <dgm:prSet presAssocID="{9C64CC83-643C-4E12-8F97-BC19DC031190}" presName="sibTransNodeRect" presStyleLbl="alignNode1" presStyleIdx="0" presStyleCnt="3">
        <dgm:presLayoutVars>
          <dgm:chMax val="0"/>
          <dgm:bulletEnabled val="1"/>
        </dgm:presLayoutVars>
      </dgm:prSet>
      <dgm:spPr/>
    </dgm:pt>
    <dgm:pt modelId="{5F398AEE-BC0F-4F30-99FA-92D67A176C2D}" type="pres">
      <dgm:prSet presAssocID="{DC13AB6D-DEA2-4CBB-AC69-1EF1A6AD1512}" presName="nodeRect" presStyleLbl="alignNode1" presStyleIdx="0" presStyleCnt="3">
        <dgm:presLayoutVars>
          <dgm:bulletEnabled val="1"/>
        </dgm:presLayoutVars>
      </dgm:prSet>
      <dgm:spPr/>
    </dgm:pt>
    <dgm:pt modelId="{3C27A223-AC17-40BD-B7C5-0447661C2934}" type="pres">
      <dgm:prSet presAssocID="{9C64CC83-643C-4E12-8F97-BC19DC031190}" presName="sibTrans" presStyleCnt="0"/>
      <dgm:spPr/>
    </dgm:pt>
    <dgm:pt modelId="{0864151C-845B-4A50-9755-7EE613694D81}" type="pres">
      <dgm:prSet presAssocID="{53742231-981F-480A-940F-203EC2F7423F}" presName="compositeNode" presStyleCnt="0">
        <dgm:presLayoutVars>
          <dgm:bulletEnabled val="1"/>
        </dgm:presLayoutVars>
      </dgm:prSet>
      <dgm:spPr/>
    </dgm:pt>
    <dgm:pt modelId="{00AE7F27-0E5D-4AFB-ACD6-B5A19E79EA42}" type="pres">
      <dgm:prSet presAssocID="{53742231-981F-480A-940F-203EC2F7423F}" presName="bgRect" presStyleLbl="alignNode1" presStyleIdx="1" presStyleCnt="3"/>
      <dgm:spPr/>
    </dgm:pt>
    <dgm:pt modelId="{975C752B-C37A-4BA6-A3AE-2202A141404A}" type="pres">
      <dgm:prSet presAssocID="{EF449C32-A7AE-4099-9E9B-9E2F736A89CE}" presName="sibTransNodeRect" presStyleLbl="alignNode1" presStyleIdx="1" presStyleCnt="3">
        <dgm:presLayoutVars>
          <dgm:chMax val="0"/>
          <dgm:bulletEnabled val="1"/>
        </dgm:presLayoutVars>
      </dgm:prSet>
      <dgm:spPr/>
    </dgm:pt>
    <dgm:pt modelId="{C5BDCA19-B754-421E-A6CC-628F80FC74CB}" type="pres">
      <dgm:prSet presAssocID="{53742231-981F-480A-940F-203EC2F7423F}" presName="nodeRect" presStyleLbl="alignNode1" presStyleIdx="1" presStyleCnt="3">
        <dgm:presLayoutVars>
          <dgm:bulletEnabled val="1"/>
        </dgm:presLayoutVars>
      </dgm:prSet>
      <dgm:spPr/>
    </dgm:pt>
    <dgm:pt modelId="{3E36C1DA-E751-469B-91D5-B7ADF3790DAB}" type="pres">
      <dgm:prSet presAssocID="{EF449C32-A7AE-4099-9E9B-9E2F736A89CE}" presName="sibTrans" presStyleCnt="0"/>
      <dgm:spPr/>
    </dgm:pt>
    <dgm:pt modelId="{19974A3A-09A4-40DE-BB0F-D9AED1ACB06E}" type="pres">
      <dgm:prSet presAssocID="{9EF41CC5-EF3B-4A6D-8229-3F1333EADFB3}" presName="compositeNode" presStyleCnt="0">
        <dgm:presLayoutVars>
          <dgm:bulletEnabled val="1"/>
        </dgm:presLayoutVars>
      </dgm:prSet>
      <dgm:spPr/>
    </dgm:pt>
    <dgm:pt modelId="{CAD62F17-E99D-4FEF-B376-961CA4CB20EB}" type="pres">
      <dgm:prSet presAssocID="{9EF41CC5-EF3B-4A6D-8229-3F1333EADFB3}" presName="bgRect" presStyleLbl="alignNode1" presStyleIdx="2" presStyleCnt="3"/>
      <dgm:spPr/>
    </dgm:pt>
    <dgm:pt modelId="{E20811D6-E5D4-4C9E-AABF-9E0E1902CA2C}" type="pres">
      <dgm:prSet presAssocID="{98E6DD7C-B953-4119-9F64-9914E467ECBF}" presName="sibTransNodeRect" presStyleLbl="alignNode1" presStyleIdx="2" presStyleCnt="3">
        <dgm:presLayoutVars>
          <dgm:chMax val="0"/>
          <dgm:bulletEnabled val="1"/>
        </dgm:presLayoutVars>
      </dgm:prSet>
      <dgm:spPr/>
    </dgm:pt>
    <dgm:pt modelId="{67D48337-9200-42EF-A956-8FC92E9B78D2}" type="pres">
      <dgm:prSet presAssocID="{9EF41CC5-EF3B-4A6D-8229-3F1333EADFB3}" presName="nodeRect" presStyleLbl="alignNode1" presStyleIdx="2" presStyleCnt="3">
        <dgm:presLayoutVars>
          <dgm:bulletEnabled val="1"/>
        </dgm:presLayoutVars>
      </dgm:prSet>
      <dgm:spPr/>
    </dgm:pt>
  </dgm:ptLst>
  <dgm:cxnLst>
    <dgm:cxn modelId="{43B61840-F115-4174-96B9-DA0C0E83489E}" type="presOf" srcId="{9EF41CC5-EF3B-4A6D-8229-3F1333EADFB3}" destId="{CAD62F17-E99D-4FEF-B376-961CA4CB20EB}" srcOrd="0" destOrd="0" presId="urn:microsoft.com/office/officeart/2016/7/layout/LinearBlockProcessNumbered"/>
    <dgm:cxn modelId="{0439566F-A180-439C-8FAE-14E400EF2DCF}" type="presOf" srcId="{8AA20905-3954-474B-A606-562BCA026DC1}" destId="{579698BD-D232-4926-8D7B-29A69B90858B}" srcOrd="0" destOrd="0" presId="urn:microsoft.com/office/officeart/2016/7/layout/LinearBlockProcessNumbered"/>
    <dgm:cxn modelId="{29280853-1A86-48A7-BA30-A3847B3BBF6D}" type="presOf" srcId="{98E6DD7C-B953-4119-9F64-9914E467ECBF}" destId="{E20811D6-E5D4-4C9E-AABF-9E0E1902CA2C}" srcOrd="0" destOrd="0" presId="urn:microsoft.com/office/officeart/2016/7/layout/LinearBlockProcessNumbered"/>
    <dgm:cxn modelId="{F6B1598F-1951-460F-BB68-54B32A798437}" type="presOf" srcId="{DC13AB6D-DEA2-4CBB-AC69-1EF1A6AD1512}" destId="{5F398AEE-BC0F-4F30-99FA-92D67A176C2D}" srcOrd="1" destOrd="0" presId="urn:microsoft.com/office/officeart/2016/7/layout/LinearBlockProcessNumbered"/>
    <dgm:cxn modelId="{4B888393-351D-4489-90C9-5A68061AB236}" srcId="{8AA20905-3954-474B-A606-562BCA026DC1}" destId="{DC13AB6D-DEA2-4CBB-AC69-1EF1A6AD1512}" srcOrd="0" destOrd="0" parTransId="{2C752582-D9FF-4E04-A92F-827DB4BB5C48}" sibTransId="{9C64CC83-643C-4E12-8F97-BC19DC031190}"/>
    <dgm:cxn modelId="{BA068B95-2DA2-453B-8162-90B6AB26C20F}" type="presOf" srcId="{DC13AB6D-DEA2-4CBB-AC69-1EF1A6AD1512}" destId="{DA3A6BD4-857F-4C66-97FA-B1E1C180A950}" srcOrd="0" destOrd="0" presId="urn:microsoft.com/office/officeart/2016/7/layout/LinearBlockProcessNumbered"/>
    <dgm:cxn modelId="{07D44DA2-D4CF-4582-A029-20843D5E0F23}" type="presOf" srcId="{53742231-981F-480A-940F-203EC2F7423F}" destId="{C5BDCA19-B754-421E-A6CC-628F80FC74CB}" srcOrd="1" destOrd="0" presId="urn:microsoft.com/office/officeart/2016/7/layout/LinearBlockProcessNumbered"/>
    <dgm:cxn modelId="{E476EEBC-7C9F-4E07-BD58-1044B9769B64}" srcId="{8AA20905-3954-474B-A606-562BCA026DC1}" destId="{9EF41CC5-EF3B-4A6D-8229-3F1333EADFB3}" srcOrd="2" destOrd="0" parTransId="{DAEF1C7D-B0C5-46FA-BED3-8A54E918D3E0}" sibTransId="{98E6DD7C-B953-4119-9F64-9914E467ECBF}"/>
    <dgm:cxn modelId="{FDD130C2-CD74-4EFB-A226-A939177EE674}" type="presOf" srcId="{53742231-981F-480A-940F-203EC2F7423F}" destId="{00AE7F27-0E5D-4AFB-ACD6-B5A19E79EA42}" srcOrd="0" destOrd="0" presId="urn:microsoft.com/office/officeart/2016/7/layout/LinearBlockProcessNumbered"/>
    <dgm:cxn modelId="{F226B1C2-5D99-403A-8240-EAD6BD4D8534}" srcId="{8AA20905-3954-474B-A606-562BCA026DC1}" destId="{53742231-981F-480A-940F-203EC2F7423F}" srcOrd="1" destOrd="0" parTransId="{2FC75195-FBA1-43DE-85DD-40B4B3A2F1F3}" sibTransId="{EF449C32-A7AE-4099-9E9B-9E2F736A89CE}"/>
    <dgm:cxn modelId="{714928C7-F07E-48C4-BE9E-4842896AB09C}" type="presOf" srcId="{9C64CC83-643C-4E12-8F97-BC19DC031190}" destId="{BBA91679-4684-4A04-8AEB-03038C78A75C}" srcOrd="0" destOrd="0" presId="urn:microsoft.com/office/officeart/2016/7/layout/LinearBlockProcessNumbered"/>
    <dgm:cxn modelId="{7D7B6CF4-1A1D-4E61-B5FE-C95185EF2648}" type="presOf" srcId="{9EF41CC5-EF3B-4A6D-8229-3F1333EADFB3}" destId="{67D48337-9200-42EF-A956-8FC92E9B78D2}" srcOrd="1" destOrd="0" presId="urn:microsoft.com/office/officeart/2016/7/layout/LinearBlockProcessNumbered"/>
    <dgm:cxn modelId="{B9FDDAF6-ABE3-43D5-A54F-4A0002D3FD47}" type="presOf" srcId="{EF449C32-A7AE-4099-9E9B-9E2F736A89CE}" destId="{975C752B-C37A-4BA6-A3AE-2202A141404A}" srcOrd="0" destOrd="0" presId="urn:microsoft.com/office/officeart/2016/7/layout/LinearBlockProcessNumbered"/>
    <dgm:cxn modelId="{6A5BED3A-71F8-4A71-9E51-1F50D58497B5}" type="presParOf" srcId="{579698BD-D232-4926-8D7B-29A69B90858B}" destId="{3DD5B223-886E-4FC7-BDA1-ECA869A474EC}" srcOrd="0" destOrd="0" presId="urn:microsoft.com/office/officeart/2016/7/layout/LinearBlockProcessNumbered"/>
    <dgm:cxn modelId="{50ED9B3F-B939-4662-8866-7D833C2E0794}" type="presParOf" srcId="{3DD5B223-886E-4FC7-BDA1-ECA869A474EC}" destId="{DA3A6BD4-857F-4C66-97FA-B1E1C180A950}" srcOrd="0" destOrd="0" presId="urn:microsoft.com/office/officeart/2016/7/layout/LinearBlockProcessNumbered"/>
    <dgm:cxn modelId="{0D013F25-1B82-4F7B-AEF4-E93C2E95B0C3}" type="presParOf" srcId="{3DD5B223-886E-4FC7-BDA1-ECA869A474EC}" destId="{BBA91679-4684-4A04-8AEB-03038C78A75C}" srcOrd="1" destOrd="0" presId="urn:microsoft.com/office/officeart/2016/7/layout/LinearBlockProcessNumbered"/>
    <dgm:cxn modelId="{1E713196-E09A-42B0-BC2D-5294D0D9C36F}" type="presParOf" srcId="{3DD5B223-886E-4FC7-BDA1-ECA869A474EC}" destId="{5F398AEE-BC0F-4F30-99FA-92D67A176C2D}" srcOrd="2" destOrd="0" presId="urn:microsoft.com/office/officeart/2016/7/layout/LinearBlockProcessNumbered"/>
    <dgm:cxn modelId="{F8935481-B234-48A2-8E9B-6F423817537E}" type="presParOf" srcId="{579698BD-D232-4926-8D7B-29A69B90858B}" destId="{3C27A223-AC17-40BD-B7C5-0447661C2934}" srcOrd="1" destOrd="0" presId="urn:microsoft.com/office/officeart/2016/7/layout/LinearBlockProcessNumbered"/>
    <dgm:cxn modelId="{2A71550B-14EE-4B95-A40C-E132F64E84DB}" type="presParOf" srcId="{579698BD-D232-4926-8D7B-29A69B90858B}" destId="{0864151C-845B-4A50-9755-7EE613694D81}" srcOrd="2" destOrd="0" presId="urn:microsoft.com/office/officeart/2016/7/layout/LinearBlockProcessNumbered"/>
    <dgm:cxn modelId="{819F34FD-11F2-459D-B90D-FA1539737ADA}" type="presParOf" srcId="{0864151C-845B-4A50-9755-7EE613694D81}" destId="{00AE7F27-0E5D-4AFB-ACD6-B5A19E79EA42}" srcOrd="0" destOrd="0" presId="urn:microsoft.com/office/officeart/2016/7/layout/LinearBlockProcessNumbered"/>
    <dgm:cxn modelId="{FAA4A22E-63A9-40D7-AF37-15573F3C350A}" type="presParOf" srcId="{0864151C-845B-4A50-9755-7EE613694D81}" destId="{975C752B-C37A-4BA6-A3AE-2202A141404A}" srcOrd="1" destOrd="0" presId="urn:microsoft.com/office/officeart/2016/7/layout/LinearBlockProcessNumbered"/>
    <dgm:cxn modelId="{ABA4B620-C848-4944-B91E-2E492EED893C}" type="presParOf" srcId="{0864151C-845B-4A50-9755-7EE613694D81}" destId="{C5BDCA19-B754-421E-A6CC-628F80FC74CB}" srcOrd="2" destOrd="0" presId="urn:microsoft.com/office/officeart/2016/7/layout/LinearBlockProcessNumbered"/>
    <dgm:cxn modelId="{981D06A1-F8EB-4C14-9C2A-EA505D9C81FA}" type="presParOf" srcId="{579698BD-D232-4926-8D7B-29A69B90858B}" destId="{3E36C1DA-E751-469B-91D5-B7ADF3790DAB}" srcOrd="3" destOrd="0" presId="urn:microsoft.com/office/officeart/2016/7/layout/LinearBlockProcessNumbered"/>
    <dgm:cxn modelId="{D7BB022A-2504-497B-9672-D97F4CB95B15}" type="presParOf" srcId="{579698BD-D232-4926-8D7B-29A69B90858B}" destId="{19974A3A-09A4-40DE-BB0F-D9AED1ACB06E}" srcOrd="4" destOrd="0" presId="urn:microsoft.com/office/officeart/2016/7/layout/LinearBlockProcessNumbered"/>
    <dgm:cxn modelId="{A085F843-0169-43CB-B042-74EAB6E1674B}" type="presParOf" srcId="{19974A3A-09A4-40DE-BB0F-D9AED1ACB06E}" destId="{CAD62F17-E99D-4FEF-B376-961CA4CB20EB}" srcOrd="0" destOrd="0" presId="urn:microsoft.com/office/officeart/2016/7/layout/LinearBlockProcessNumbered"/>
    <dgm:cxn modelId="{A179DBCD-25F3-44B6-BAA7-26EBC7B29448}" type="presParOf" srcId="{19974A3A-09A4-40DE-BB0F-D9AED1ACB06E}" destId="{E20811D6-E5D4-4C9E-AABF-9E0E1902CA2C}" srcOrd="1" destOrd="0" presId="urn:microsoft.com/office/officeart/2016/7/layout/LinearBlockProcessNumbered"/>
    <dgm:cxn modelId="{7429BDE6-E17F-4E08-960D-D62B256C81F6}" type="presParOf" srcId="{19974A3A-09A4-40DE-BB0F-D9AED1ACB06E}" destId="{67D48337-9200-42EF-A956-8FC92E9B78D2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3A6BD4-857F-4C66-97FA-B1E1C180A950}">
      <dsp:nvSpPr>
        <dsp:cNvPr id="0" name=""/>
        <dsp:cNvSpPr/>
      </dsp:nvSpPr>
      <dsp:spPr>
        <a:xfrm>
          <a:off x="808" y="64038"/>
          <a:ext cx="3275967" cy="393116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593" tIns="0" rIns="323593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600" kern="1200" dirty="0"/>
            <a:t>Expand by opening 3 coffee shops in top Indian cities</a:t>
          </a:r>
        </a:p>
      </dsp:txBody>
      <dsp:txXfrm>
        <a:off x="808" y="1636502"/>
        <a:ext cx="3275967" cy="2358696"/>
      </dsp:txXfrm>
    </dsp:sp>
    <dsp:sp modelId="{BBA91679-4684-4A04-8AEB-03038C78A75C}">
      <dsp:nvSpPr>
        <dsp:cNvPr id="0" name=""/>
        <dsp:cNvSpPr/>
      </dsp:nvSpPr>
      <dsp:spPr>
        <a:xfrm>
          <a:off x="808" y="64038"/>
          <a:ext cx="3275967" cy="1572464"/>
        </a:xfrm>
        <a:prstGeom prst="rect">
          <a:avLst/>
        </a:prstGeom>
        <a:noFill/>
        <a:ln w="15875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593" tIns="165100" rIns="323593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01</a:t>
          </a:r>
          <a:endParaRPr lang="en-US" sz="6600" kern="1200" dirty="0"/>
        </a:p>
      </dsp:txBody>
      <dsp:txXfrm>
        <a:off x="808" y="64038"/>
        <a:ext cx="3275967" cy="1572464"/>
      </dsp:txXfrm>
    </dsp:sp>
    <dsp:sp modelId="{00AE7F27-0E5D-4AFB-ACD6-B5A19E79EA42}">
      <dsp:nvSpPr>
        <dsp:cNvPr id="0" name=""/>
        <dsp:cNvSpPr/>
      </dsp:nvSpPr>
      <dsp:spPr>
        <a:xfrm>
          <a:off x="3538853" y="64038"/>
          <a:ext cx="3275967" cy="393116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593" tIns="0" rIns="323593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600" kern="1200" dirty="0"/>
            <a:t>Use historical online sales data (since Jan 2023)</a:t>
          </a:r>
        </a:p>
      </dsp:txBody>
      <dsp:txXfrm>
        <a:off x="3538853" y="1636502"/>
        <a:ext cx="3275967" cy="2358696"/>
      </dsp:txXfrm>
    </dsp:sp>
    <dsp:sp modelId="{975C752B-C37A-4BA6-A3AE-2202A141404A}">
      <dsp:nvSpPr>
        <dsp:cNvPr id="0" name=""/>
        <dsp:cNvSpPr/>
      </dsp:nvSpPr>
      <dsp:spPr>
        <a:xfrm>
          <a:off x="3538853" y="64038"/>
          <a:ext cx="3275967" cy="1572464"/>
        </a:xfrm>
        <a:prstGeom prst="rect">
          <a:avLst/>
        </a:prstGeom>
        <a:noFill/>
        <a:ln w="15875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593" tIns="165100" rIns="323593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02</a:t>
          </a:r>
        </a:p>
      </dsp:txBody>
      <dsp:txXfrm>
        <a:off x="3538853" y="64038"/>
        <a:ext cx="3275967" cy="1572464"/>
      </dsp:txXfrm>
    </dsp:sp>
    <dsp:sp modelId="{CAD62F17-E99D-4FEF-B376-961CA4CB20EB}">
      <dsp:nvSpPr>
        <dsp:cNvPr id="0" name=""/>
        <dsp:cNvSpPr/>
      </dsp:nvSpPr>
      <dsp:spPr>
        <a:xfrm>
          <a:off x="7076898" y="64038"/>
          <a:ext cx="3275967" cy="393116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593" tIns="0" rIns="323593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600" kern="1200" dirty="0"/>
            <a:t>Recommend best cities based on data-driven insights</a:t>
          </a:r>
        </a:p>
      </dsp:txBody>
      <dsp:txXfrm>
        <a:off x="7076898" y="1636502"/>
        <a:ext cx="3275967" cy="2358696"/>
      </dsp:txXfrm>
    </dsp:sp>
    <dsp:sp modelId="{E20811D6-E5D4-4C9E-AABF-9E0E1902CA2C}">
      <dsp:nvSpPr>
        <dsp:cNvPr id="0" name=""/>
        <dsp:cNvSpPr/>
      </dsp:nvSpPr>
      <dsp:spPr>
        <a:xfrm>
          <a:off x="7076898" y="64038"/>
          <a:ext cx="3275967" cy="1572464"/>
        </a:xfrm>
        <a:prstGeom prst="rect">
          <a:avLst/>
        </a:prstGeom>
        <a:noFill/>
        <a:ln w="15875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593" tIns="165100" rIns="323593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03</a:t>
          </a:r>
        </a:p>
      </dsp:txBody>
      <dsp:txXfrm>
        <a:off x="7076898" y="64038"/>
        <a:ext cx="3275967" cy="157246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66686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7765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55732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2/9/2026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6342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2/9/2026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6643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2/9/2026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61076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2/9/2026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89994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2/9/2026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49576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2/9/2026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9700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ED0CC-082F-4160-86E5-0D6041F12778}" type="datetime1">
              <a:rPr lang="en-US" smtClean="0"/>
              <a:t>2/9/2026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063863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ED0CC-082F-4160-86E5-0D6041F12778}" type="datetime1">
              <a:rPr lang="en-US" smtClean="0"/>
              <a:t>2/9/2026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486517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ED0CC-082F-4160-86E5-0D6041F12778}" type="datetime1">
              <a:rPr lang="en-US" smtClean="0"/>
              <a:t>2/9/2026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29395708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ED0CC-082F-4160-86E5-0D6041F12778}" type="datetime1">
              <a:rPr lang="en-US" smtClean="0"/>
              <a:t>2/9/2026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7814408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ED0CC-082F-4160-86E5-0D6041F12778}" type="datetime1">
              <a:rPr lang="en-US" smtClean="0"/>
              <a:t>2/9/2026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709573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ED0CC-082F-4160-86E5-0D6041F12778}" type="datetime1">
              <a:rPr lang="en-US" smtClean="0"/>
              <a:t>2/9/2026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0088428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E833E-1B6D-415F-AD29-75AE8C43BD0D}" type="datetime1">
              <a:rPr lang="en-US" smtClean="0"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47370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2596F-08A7-4B70-989A-F2B1CF31E66B}" type="datetime1">
              <a:rPr lang="en-US" smtClean="0"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64385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420447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0" r:id="rId1"/>
    <p:sldLayoutId id="2147483731" r:id="rId2"/>
    <p:sldLayoutId id="2147483732" r:id="rId3"/>
    <p:sldLayoutId id="2147483733" r:id="rId4"/>
    <p:sldLayoutId id="2147483734" r:id="rId5"/>
    <p:sldLayoutId id="2147483735" r:id="rId6"/>
    <p:sldLayoutId id="2147483736" r:id="rId7"/>
    <p:sldLayoutId id="2147483737" r:id="rId8"/>
    <p:sldLayoutId id="2147483738" r:id="rId9"/>
    <p:sldLayoutId id="2147483739" r:id="rId10"/>
    <p:sldLayoutId id="2147483740" r:id="rId11"/>
    <p:sldLayoutId id="2147483741" r:id="rId12"/>
    <p:sldLayoutId id="2147483742" r:id="rId13"/>
    <p:sldLayoutId id="2147483743" r:id="rId14"/>
    <p:sldLayoutId id="2147483744" r:id="rId15"/>
    <p:sldLayoutId id="2147483745" r:id="rId16"/>
    <p:sldLayoutId id="2147483746" r:id="rId17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cup, coffee, food, beverage&#10;&#10;Description automatically generated">
            <a:extLst>
              <a:ext uri="{FF2B5EF4-FFF2-40B4-BE49-F238E27FC236}">
                <a16:creationId xmlns:a16="http://schemas.microsoft.com/office/drawing/2014/main" id="{91BC5572-FC33-4C1C-8DEE-C2CF75A7564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351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0693" y="1087120"/>
            <a:ext cx="9440034" cy="2648381"/>
          </a:xfrm>
        </p:spPr>
        <p:txBody>
          <a:bodyPr>
            <a:normAutofit/>
          </a:bodyPr>
          <a:lstStyle/>
          <a:p>
            <a:r>
              <a:rPr lang="en-US" dirty="0">
                <a:effectLst/>
              </a:rPr>
              <a:t>Monday Coffee Expansion Analysis</a:t>
            </a:r>
            <a:endParaRPr lang="en-US" sz="7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0693" y="3910649"/>
            <a:ext cx="9440034" cy="1397951"/>
          </a:xfrm>
        </p:spPr>
        <p:txBody>
          <a:bodyPr>
            <a:normAutofit/>
          </a:bodyPr>
          <a:lstStyle/>
          <a:p>
            <a:r>
              <a:rPr lang="en-US" sz="2800" dirty="0"/>
              <a:t>By vidhi tyagi</a:t>
            </a:r>
          </a:p>
        </p:txBody>
      </p:sp>
    </p:spTree>
    <p:extLst>
      <p:ext uri="{BB962C8B-B14F-4D97-AF65-F5344CB8AC3E}">
        <p14:creationId xmlns:p14="http://schemas.microsoft.com/office/powerpoint/2010/main" val="633738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A748D-BEEC-43A4-BFF3-B31C0275A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effectLst/>
              </a:rPr>
              <a:t>Business Objective</a:t>
            </a:r>
            <a:endParaRPr lang="en-IN" b="1" dirty="0">
              <a:effectLst/>
            </a:endParaRPr>
          </a:p>
        </p:txBody>
      </p:sp>
      <p:graphicFrame>
        <p:nvGraphicFramePr>
          <p:cNvPr id="4" name="Content Placeholder 2">
            <a:extLst>
              <a:ext uri="{FF2B5EF4-FFF2-40B4-BE49-F238E27FC236}">
                <a16:creationId xmlns:a16="http://schemas.microsoft.com/office/drawing/2014/main" id="{AED04DAF-1E3F-4397-8834-E64118E9B2C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41939578"/>
              </p:ext>
            </p:extLst>
          </p:nvPr>
        </p:nvGraphicFramePr>
        <p:xfrm>
          <a:off x="914400" y="1731963"/>
          <a:ext cx="10353675" cy="40592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890897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8B8AADA-0D9D-F48F-1CFC-46757E1B6DFB}"/>
              </a:ext>
            </a:extLst>
          </p:cNvPr>
          <p:cNvSpPr txBox="1"/>
          <p:nvPr/>
        </p:nvSpPr>
        <p:spPr>
          <a:xfrm>
            <a:off x="285206" y="832366"/>
            <a:ext cx="7406640" cy="5674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82A6BF7-CEAA-DBD3-CE3F-901379D761BE}"/>
              </a:ext>
            </a:extLst>
          </p:cNvPr>
          <p:cNvSpPr/>
          <p:nvPr/>
        </p:nvSpPr>
        <p:spPr>
          <a:xfrm>
            <a:off x="1051249" y="832366"/>
            <a:ext cx="5078634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IN" sz="32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Business Questions Covered</a:t>
            </a:r>
            <a:endParaRPr lang="en-US" sz="3200" b="0" cap="none" spc="0" dirty="0">
              <a:ln w="0"/>
              <a:solidFill>
                <a:schemeClr val="accent2">
                  <a:lumMod val="40000"/>
                  <a:lumOff val="6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EEB95C-3C71-72EA-F690-DBDC35FDC628}"/>
              </a:ext>
            </a:extLst>
          </p:cNvPr>
          <p:cNvSpPr txBox="1"/>
          <p:nvPr/>
        </p:nvSpPr>
        <p:spPr>
          <a:xfrm>
            <a:off x="807720" y="1889760"/>
            <a:ext cx="10911840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To select the best cities, I analyzed:</a:t>
            </a:r>
          </a:p>
          <a:p>
            <a:pPr lvl="1"/>
            <a:r>
              <a:rPr lang="en-US" sz="3200" dirty="0"/>
              <a:t>•Market size (coffee consumers)</a:t>
            </a:r>
          </a:p>
          <a:p>
            <a:pPr lvl="1"/>
            <a:r>
              <a:rPr lang="en-US" sz="3200" dirty="0"/>
              <a:t>•Revenue performance</a:t>
            </a:r>
          </a:p>
          <a:p>
            <a:pPr lvl="1"/>
            <a:r>
              <a:rPr lang="en-US" sz="3200" dirty="0"/>
              <a:t>•Product demand</a:t>
            </a:r>
          </a:p>
          <a:p>
            <a:pPr lvl="1"/>
            <a:r>
              <a:rPr lang="en-US" sz="3200" dirty="0"/>
              <a:t>•Customer strength</a:t>
            </a:r>
          </a:p>
          <a:p>
            <a:pPr lvl="1"/>
            <a:r>
              <a:rPr lang="en-US" sz="3200" dirty="0"/>
              <a:t>•Profitability vs rent</a:t>
            </a:r>
          </a:p>
          <a:p>
            <a:pPr lvl="1"/>
            <a:r>
              <a:rPr lang="en-US" sz="3200" dirty="0"/>
              <a:t>•Growth trends</a:t>
            </a:r>
          </a:p>
          <a:p>
            <a:pPr lvl="0"/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1920488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9FE2B52-DF4E-6923-4819-6C13C1CBF407}"/>
              </a:ext>
            </a:extLst>
          </p:cNvPr>
          <p:cNvSpPr txBox="1"/>
          <p:nvPr/>
        </p:nvSpPr>
        <p:spPr>
          <a:xfrm>
            <a:off x="371122" y="181957"/>
            <a:ext cx="11684029" cy="69249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DF985C"/>
                </a:solidFill>
              </a:rPr>
              <a:t>Coffee Consumers per City </a:t>
            </a:r>
            <a:endParaRPr lang="en-IN" sz="3200" b="1" dirty="0">
              <a:solidFill>
                <a:srgbClr val="DF985C"/>
              </a:solidFill>
            </a:endParaRPr>
          </a:p>
          <a:p>
            <a:endParaRPr lang="en-US" sz="3200" b="1" dirty="0"/>
          </a:p>
          <a:p>
            <a:r>
              <a:rPr lang="en-US" sz="3200" b="1" dirty="0">
                <a:solidFill>
                  <a:schemeClr val="accent2">
                    <a:lumMod val="75000"/>
                  </a:schemeClr>
                </a:solidFill>
              </a:rPr>
              <a:t>Question</a:t>
            </a:r>
            <a:endParaRPr lang="en-US" sz="3200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US" sz="2800" dirty="0"/>
              <a:t>How many people in each city are likely to consume coffee?</a:t>
            </a:r>
          </a:p>
          <a:p>
            <a:endParaRPr lang="en-US" sz="2800" dirty="0"/>
          </a:p>
          <a:p>
            <a:r>
              <a:rPr lang="en-US" sz="3200" b="1" dirty="0">
                <a:solidFill>
                  <a:schemeClr val="accent2">
                    <a:lumMod val="75000"/>
                  </a:schemeClr>
                </a:solidFill>
              </a:rPr>
              <a:t>Logic</a:t>
            </a:r>
            <a:endParaRPr lang="en-US" sz="3200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US" dirty="0"/>
              <a:t>Assumed </a:t>
            </a:r>
            <a:r>
              <a:rPr lang="en-US" b="1" dirty="0"/>
              <a:t>25% of city population</a:t>
            </a:r>
            <a:r>
              <a:rPr lang="en-US" dirty="0"/>
              <a:t> consumes coffee</a:t>
            </a:r>
          </a:p>
          <a:p>
            <a:endParaRPr lang="en-US" dirty="0"/>
          </a:p>
          <a:p>
            <a:r>
              <a:rPr lang="en-US" sz="3200" b="1" dirty="0">
                <a:solidFill>
                  <a:schemeClr val="tx2">
                    <a:lumMod val="50000"/>
                  </a:schemeClr>
                </a:solidFill>
              </a:rPr>
              <a:t>SQL Insight</a:t>
            </a:r>
            <a:endParaRPr lang="en-US" sz="3200" dirty="0">
              <a:solidFill>
                <a:schemeClr val="tx2">
                  <a:lumMod val="50000"/>
                </a:schemeClr>
              </a:solidFill>
            </a:endParaRPr>
          </a:p>
          <a:p>
            <a:r>
              <a:rPr lang="en-US" sz="2000" dirty="0"/>
              <a:t>          </a:t>
            </a:r>
            <a:r>
              <a:rPr lang="en-US" sz="2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population * 0.25</a:t>
            </a:r>
          </a:p>
          <a:p>
            <a:endParaRPr lang="en-US" sz="20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  <a:p>
            <a:r>
              <a:rPr lang="en-US" sz="2800" b="1" dirty="0"/>
              <a:t>Why I did this</a:t>
            </a:r>
            <a:endParaRPr lang="en-US" sz="2800" dirty="0"/>
          </a:p>
          <a:p>
            <a:r>
              <a:rPr lang="en-US" sz="2800" dirty="0"/>
              <a:t>Larger coffee-drinking population = bigger future demand</a:t>
            </a:r>
          </a:p>
          <a:p>
            <a:endParaRPr lang="en-US" sz="2800" dirty="0"/>
          </a:p>
          <a:p>
            <a:r>
              <a:rPr lang="en-US" sz="2800" b="1" dirty="0">
                <a:solidFill>
                  <a:schemeClr val="accent2">
                    <a:lumMod val="75000"/>
                  </a:schemeClr>
                </a:solidFill>
              </a:rPr>
              <a:t>Outcome</a:t>
            </a:r>
            <a:endParaRPr lang="en-US" sz="2800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US" sz="2800" dirty="0">
                <a:solidFill>
                  <a:srgbClr val="92D050"/>
                </a:solidFill>
              </a:rPr>
              <a:t>Identified cities with </a:t>
            </a:r>
            <a:r>
              <a:rPr lang="en-US" sz="2800" b="1" dirty="0">
                <a:solidFill>
                  <a:srgbClr val="92D050"/>
                </a:solidFill>
              </a:rPr>
              <a:t>highest market potential</a:t>
            </a:r>
            <a:endParaRPr lang="en-US" sz="2800" dirty="0">
              <a:solidFill>
                <a:srgbClr val="92D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35097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9349B4D-E626-7C17-BDD8-7AB6DCEE3A5A}"/>
              </a:ext>
            </a:extLst>
          </p:cNvPr>
          <p:cNvSpPr txBox="1"/>
          <p:nvPr/>
        </p:nvSpPr>
        <p:spPr>
          <a:xfrm>
            <a:off x="401053" y="401053"/>
            <a:ext cx="11502189" cy="5878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>
                <a:solidFill>
                  <a:srgbClr val="DF985C"/>
                </a:solidFill>
              </a:rPr>
              <a:t>Revenue Analysis (Demand Strength)</a:t>
            </a:r>
          </a:p>
          <a:p>
            <a:pPr>
              <a:buNone/>
            </a:pPr>
            <a:endParaRPr lang="en-US" sz="3200" b="1" dirty="0"/>
          </a:p>
          <a:p>
            <a:pPr>
              <a:buNone/>
            </a:pPr>
            <a:r>
              <a:rPr lang="en-US" sz="3200" b="1" dirty="0">
                <a:solidFill>
                  <a:schemeClr val="accent2">
                    <a:lumMod val="75000"/>
                  </a:schemeClr>
                </a:solidFill>
              </a:rPr>
              <a:t>Question</a:t>
            </a:r>
            <a:endParaRPr lang="en-US" sz="3200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US" sz="2800" dirty="0"/>
              <a:t>What is the total revenue generated in </a:t>
            </a:r>
            <a:r>
              <a:rPr lang="en-US" sz="2800" b="1" dirty="0"/>
              <a:t>Q4 2023</a:t>
            </a:r>
            <a:r>
              <a:rPr lang="en-US" sz="2800" dirty="0"/>
              <a:t>?</a:t>
            </a:r>
            <a:endParaRPr lang="en-US" sz="32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3200" dirty="0"/>
              <a:t>Reflects recent &amp; stable demand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3200" dirty="0"/>
              <a:t>Avoids early-stage launch bias</a:t>
            </a:r>
          </a:p>
          <a:p>
            <a:endParaRPr lang="en-US" sz="3200" dirty="0"/>
          </a:p>
          <a:p>
            <a:pPr>
              <a:buNone/>
            </a:pPr>
            <a:r>
              <a:rPr lang="en-US" sz="3200" b="1" dirty="0">
                <a:solidFill>
                  <a:schemeClr val="accent2">
                    <a:lumMod val="75000"/>
                  </a:schemeClr>
                </a:solidFill>
              </a:rPr>
              <a:t>What I found</a:t>
            </a:r>
            <a:endParaRPr lang="en-US" sz="3200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US" sz="3200" dirty="0"/>
              <a:t> </a:t>
            </a:r>
            <a:r>
              <a:rPr lang="en-US" sz="2800" dirty="0"/>
              <a:t>Cities with consistently </a:t>
            </a:r>
            <a:r>
              <a:rPr lang="en-US" sz="2800" b="1" dirty="0">
                <a:solidFill>
                  <a:srgbClr val="92D050"/>
                </a:solidFill>
              </a:rPr>
              <a:t>high revenue contribution</a:t>
            </a:r>
          </a:p>
          <a:p>
            <a:endParaRPr lang="en-US" sz="2800" dirty="0"/>
          </a:p>
          <a:p>
            <a:pPr>
              <a:buNone/>
            </a:pPr>
            <a:r>
              <a:rPr lang="en-US" sz="3200" b="1" dirty="0">
                <a:solidFill>
                  <a:schemeClr val="accent2">
                    <a:lumMod val="75000"/>
                  </a:schemeClr>
                </a:solidFill>
              </a:rPr>
              <a:t>Business Insight</a:t>
            </a:r>
            <a:endParaRPr lang="en-US" sz="3200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US" sz="3200" dirty="0"/>
              <a:t>High revenue cities are safer for physical expansion</a:t>
            </a:r>
          </a:p>
        </p:txBody>
      </p:sp>
    </p:spTree>
    <p:extLst>
      <p:ext uri="{BB962C8B-B14F-4D97-AF65-F5344CB8AC3E}">
        <p14:creationId xmlns:p14="http://schemas.microsoft.com/office/powerpoint/2010/main" val="41347760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0AEABC0-CE9B-0619-3E45-07058E2B6A0C}"/>
              </a:ext>
            </a:extLst>
          </p:cNvPr>
          <p:cNvSpPr txBox="1"/>
          <p:nvPr/>
        </p:nvSpPr>
        <p:spPr>
          <a:xfrm>
            <a:off x="1026694" y="843677"/>
            <a:ext cx="10555705" cy="4955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>
                <a:solidFill>
                  <a:srgbClr val="B66952"/>
                </a:solidFill>
              </a:rPr>
              <a:t>Product Sales Performance</a:t>
            </a:r>
          </a:p>
          <a:p>
            <a:pPr>
              <a:buNone/>
            </a:pPr>
            <a:endParaRPr lang="en-US" sz="3200" b="1" dirty="0">
              <a:solidFill>
                <a:schemeClr val="accent2">
                  <a:lumMod val="75000"/>
                </a:schemeClr>
              </a:solidFill>
            </a:endParaRPr>
          </a:p>
          <a:p>
            <a:pPr>
              <a:buNone/>
            </a:pPr>
            <a:r>
              <a:rPr lang="en-US" sz="3200" b="1" dirty="0">
                <a:solidFill>
                  <a:schemeClr val="accent2">
                    <a:lumMod val="75000"/>
                  </a:schemeClr>
                </a:solidFill>
              </a:rPr>
              <a:t>Question</a:t>
            </a:r>
            <a:endParaRPr lang="en-US" sz="3200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US" sz="2800" dirty="0"/>
              <a:t>	How many units of each product were sold?</a:t>
            </a:r>
          </a:p>
          <a:p>
            <a:pPr>
              <a:buNone/>
            </a:pPr>
            <a:r>
              <a:rPr lang="en-US" sz="3200" b="1" dirty="0"/>
              <a:t>Why</a:t>
            </a:r>
            <a:endParaRPr lang="en-US" sz="32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3200" dirty="0"/>
              <a:t>Helps understand </a:t>
            </a:r>
            <a:r>
              <a:rPr lang="en-US" sz="3200" b="1" dirty="0">
                <a:solidFill>
                  <a:srgbClr val="92D050"/>
                </a:solidFill>
              </a:rPr>
              <a:t>customer preferences</a:t>
            </a:r>
            <a:endParaRPr lang="en-US" sz="3200" dirty="0">
              <a:solidFill>
                <a:srgbClr val="92D050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3200" dirty="0"/>
              <a:t>Useful for inventory &amp; menu planning</a:t>
            </a:r>
          </a:p>
          <a:p>
            <a:pPr>
              <a:buNone/>
            </a:pPr>
            <a:r>
              <a:rPr lang="en-US" sz="3200" b="1" dirty="0">
                <a:solidFill>
                  <a:schemeClr val="accent2">
                    <a:lumMod val="75000"/>
                  </a:schemeClr>
                </a:solidFill>
              </a:rPr>
              <a:t>Outcome</a:t>
            </a:r>
            <a:endParaRPr lang="en-US" sz="3200" dirty="0">
              <a:solidFill>
                <a:schemeClr val="accent2">
                  <a:lumMod val="75000"/>
                </a:schemeClr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3200" dirty="0"/>
              <a:t>Identified </a:t>
            </a:r>
            <a:r>
              <a:rPr lang="en-US" sz="3200" b="1" dirty="0">
                <a:solidFill>
                  <a:srgbClr val="92D050"/>
                </a:solidFill>
              </a:rPr>
              <a:t>best-selling products</a:t>
            </a:r>
            <a:endParaRPr lang="en-US" sz="3200" dirty="0">
              <a:solidFill>
                <a:srgbClr val="92D050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3200" dirty="0"/>
              <a:t>Helped analyze product demand across cities</a:t>
            </a:r>
          </a:p>
        </p:txBody>
      </p:sp>
    </p:spTree>
    <p:extLst>
      <p:ext uri="{BB962C8B-B14F-4D97-AF65-F5344CB8AC3E}">
        <p14:creationId xmlns:p14="http://schemas.microsoft.com/office/powerpoint/2010/main" val="9835148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7814942-C844-9D6D-703F-CD2FAF46DEC4}"/>
              </a:ext>
            </a:extLst>
          </p:cNvPr>
          <p:cNvSpPr txBox="1"/>
          <p:nvPr/>
        </p:nvSpPr>
        <p:spPr>
          <a:xfrm>
            <a:off x="529389" y="203965"/>
            <a:ext cx="11662611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Average Sales per Customer (Profitability) </a:t>
            </a:r>
            <a:r>
              <a:rPr lang="en-US" sz="3200" b="1" dirty="0"/>
              <a:t>⭐</a:t>
            </a:r>
          </a:p>
          <a:p>
            <a:pPr>
              <a:buNone/>
            </a:pPr>
            <a:endParaRPr lang="en-US" sz="3200" b="1" dirty="0"/>
          </a:p>
          <a:p>
            <a:pPr>
              <a:buNone/>
            </a:pPr>
            <a:r>
              <a:rPr lang="en-US" sz="2800" b="1" dirty="0">
                <a:solidFill>
                  <a:schemeClr val="accent2">
                    <a:lumMod val="75000"/>
                  </a:schemeClr>
                </a:solidFill>
              </a:rPr>
              <a:t>Question</a:t>
            </a:r>
            <a:endParaRPr lang="en-US" sz="2800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US" sz="2800" dirty="0"/>
              <a:t>	What is the average sales amount per customer in each city?</a:t>
            </a:r>
          </a:p>
          <a:p>
            <a:endParaRPr lang="en-US" sz="2800" dirty="0"/>
          </a:p>
          <a:p>
            <a:pPr>
              <a:buNone/>
            </a:pPr>
            <a:r>
              <a:rPr lang="en-US" sz="2800" b="1" dirty="0"/>
              <a:t>Why this matters</a:t>
            </a:r>
            <a:endParaRPr lang="en-US" sz="28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800" dirty="0"/>
              <a:t>High total sales ≠ high profitability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800" dirty="0"/>
              <a:t>Avg spend per customer shows </a:t>
            </a:r>
            <a:r>
              <a:rPr lang="en-US" sz="2800" b="1" dirty="0">
                <a:solidFill>
                  <a:srgbClr val="92D050"/>
                </a:solidFill>
              </a:rPr>
              <a:t>true value</a:t>
            </a:r>
          </a:p>
          <a:p>
            <a:pPr lvl="1"/>
            <a:endParaRPr lang="en-US" sz="2800" dirty="0">
              <a:solidFill>
                <a:srgbClr val="92D050"/>
              </a:solidFill>
            </a:endParaRPr>
          </a:p>
          <a:p>
            <a:pPr>
              <a:buNone/>
            </a:pPr>
            <a:r>
              <a:rPr lang="en-US" sz="2800" b="1" dirty="0">
                <a:solidFill>
                  <a:srgbClr val="DDA147"/>
                </a:solidFill>
              </a:rPr>
              <a:t>Metric Used</a:t>
            </a:r>
            <a:endParaRPr lang="en-US" sz="2800" dirty="0">
              <a:solidFill>
                <a:srgbClr val="DDA147"/>
              </a:solidFill>
            </a:endParaRPr>
          </a:p>
          <a:p>
            <a:pPr lvl="1"/>
            <a:r>
              <a:rPr lang="en-US" sz="2800" dirty="0">
                <a:latin typeface="Courier New" panose="02070309020205020404" pitchFamily="49" charset="0"/>
              </a:rPr>
              <a:t>Avg Sales per Customer = Total Sales / Unique Customers</a:t>
            </a:r>
          </a:p>
          <a:p>
            <a:pPr>
              <a:buNone/>
            </a:pPr>
            <a:r>
              <a:rPr lang="en-US" sz="2800" b="1" dirty="0">
                <a:solidFill>
                  <a:schemeClr val="accent2">
                    <a:lumMod val="75000"/>
                  </a:schemeClr>
                </a:solidFill>
              </a:rPr>
              <a:t>Insight</a:t>
            </a:r>
            <a:endParaRPr lang="en-US" sz="2800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US" sz="2800" dirty="0"/>
              <a:t>	Cities with higher per-customer spend are more profitable</a:t>
            </a:r>
          </a:p>
        </p:txBody>
      </p:sp>
    </p:spTree>
    <p:extLst>
      <p:ext uri="{BB962C8B-B14F-4D97-AF65-F5344CB8AC3E}">
        <p14:creationId xmlns:p14="http://schemas.microsoft.com/office/powerpoint/2010/main" val="32842061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6B55B75-A48C-1C18-8CF3-A252EC657E54}"/>
              </a:ext>
            </a:extLst>
          </p:cNvPr>
          <p:cNvSpPr txBox="1"/>
          <p:nvPr/>
        </p:nvSpPr>
        <p:spPr>
          <a:xfrm>
            <a:off x="274680" y="239486"/>
            <a:ext cx="11213432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>
                <a:solidFill>
                  <a:srgbClr val="DF985C"/>
                </a:solidFill>
              </a:rPr>
              <a:t>City Population vs Actual Customers</a:t>
            </a:r>
          </a:p>
          <a:p>
            <a:pPr>
              <a:buNone/>
            </a:pPr>
            <a:endParaRPr lang="en-US" sz="3200" b="1" dirty="0">
              <a:solidFill>
                <a:srgbClr val="DF985C"/>
              </a:solidFill>
            </a:endParaRPr>
          </a:p>
          <a:p>
            <a:pPr>
              <a:buNone/>
            </a:pPr>
            <a:r>
              <a:rPr lang="en-US" sz="3200" b="1" dirty="0">
                <a:solidFill>
                  <a:schemeClr val="accent2">
                    <a:lumMod val="75000"/>
                  </a:schemeClr>
                </a:solidFill>
              </a:rPr>
              <a:t>Question</a:t>
            </a:r>
            <a:endParaRPr lang="en-US" sz="3200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US" sz="3200" dirty="0"/>
              <a:t>	Compare estimated coffee consumers with current customers</a:t>
            </a:r>
          </a:p>
          <a:p>
            <a:endParaRPr lang="en-US" sz="3200" dirty="0"/>
          </a:p>
          <a:p>
            <a:pPr>
              <a:buNone/>
            </a:pPr>
            <a:r>
              <a:rPr lang="en-US" sz="3200" b="1" dirty="0">
                <a:solidFill>
                  <a:schemeClr val="accent2">
                    <a:lumMod val="75000"/>
                  </a:schemeClr>
                </a:solidFill>
              </a:rPr>
              <a:t>Why</a:t>
            </a:r>
            <a:endParaRPr lang="en-US" sz="3200" dirty="0">
              <a:solidFill>
                <a:schemeClr val="accent2">
                  <a:lumMod val="75000"/>
                </a:schemeClr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3200" dirty="0"/>
              <a:t>Shows </a:t>
            </a:r>
            <a:r>
              <a:rPr lang="en-US" sz="3200" b="1" dirty="0">
                <a:solidFill>
                  <a:srgbClr val="92D050"/>
                </a:solidFill>
              </a:rPr>
              <a:t>untapped market opportunity</a:t>
            </a:r>
            <a:endParaRPr lang="en-US" sz="3200" dirty="0">
              <a:solidFill>
                <a:srgbClr val="92D050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3200" dirty="0"/>
              <a:t>Helps identify growth potential</a:t>
            </a:r>
          </a:p>
          <a:p>
            <a:endParaRPr lang="en-US" sz="3200" dirty="0"/>
          </a:p>
          <a:p>
            <a:pPr>
              <a:buNone/>
            </a:pPr>
            <a:r>
              <a:rPr lang="en-US" sz="3200" b="1" dirty="0">
                <a:solidFill>
                  <a:schemeClr val="accent2">
                    <a:lumMod val="75000"/>
                  </a:schemeClr>
                </a:solidFill>
              </a:rPr>
              <a:t>Outcome</a:t>
            </a:r>
            <a:endParaRPr lang="en-US" sz="3200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US" sz="3200" dirty="0"/>
              <a:t>	Cities with large gap = strong expansion opportunity</a:t>
            </a:r>
          </a:p>
        </p:txBody>
      </p:sp>
    </p:spTree>
    <p:extLst>
      <p:ext uri="{BB962C8B-B14F-4D97-AF65-F5344CB8AC3E}">
        <p14:creationId xmlns:p14="http://schemas.microsoft.com/office/powerpoint/2010/main" val="8599768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9DAA815-06FC-FFFD-BD56-18C37D745226}"/>
              </a:ext>
            </a:extLst>
          </p:cNvPr>
          <p:cNvSpPr txBox="1"/>
          <p:nvPr/>
        </p:nvSpPr>
        <p:spPr>
          <a:xfrm>
            <a:off x="240632" y="181957"/>
            <a:ext cx="11293642" cy="6494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>
                <a:solidFill>
                  <a:srgbClr val="DF985C"/>
                </a:solidFill>
              </a:rPr>
              <a:t>Top 3 Products per City</a:t>
            </a:r>
          </a:p>
          <a:p>
            <a:pPr>
              <a:buNone/>
            </a:pPr>
            <a:r>
              <a:rPr lang="en-US" sz="3200" b="1" dirty="0">
                <a:solidFill>
                  <a:schemeClr val="accent2">
                    <a:lumMod val="75000"/>
                  </a:schemeClr>
                </a:solidFill>
              </a:rPr>
              <a:t>Question</a:t>
            </a:r>
            <a:endParaRPr lang="en-US" sz="3200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US" sz="3200" dirty="0"/>
              <a:t>	What are the top 3 selling products in each city?</a:t>
            </a:r>
          </a:p>
          <a:p>
            <a:endParaRPr lang="en-US" sz="3200" dirty="0"/>
          </a:p>
          <a:p>
            <a:pPr>
              <a:buNone/>
            </a:pPr>
            <a:r>
              <a:rPr lang="en-US" sz="3200" b="1" dirty="0">
                <a:solidFill>
                  <a:schemeClr val="accent2">
                    <a:lumMod val="75000"/>
                  </a:schemeClr>
                </a:solidFill>
              </a:rPr>
              <a:t>SQL Technique Used</a:t>
            </a:r>
            <a:endParaRPr lang="en-US" sz="3200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US" sz="3200" dirty="0">
                <a:latin typeface="Courier New" panose="02070309020205020404" pitchFamily="49" charset="0"/>
              </a:rPr>
              <a:t>	DENSE_RANK()</a:t>
            </a:r>
            <a:r>
              <a:rPr lang="en-US" sz="3200" dirty="0"/>
              <a:t> window function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3200" dirty="0"/>
          </a:p>
          <a:p>
            <a:pPr>
              <a:buNone/>
            </a:pPr>
            <a:r>
              <a:rPr lang="en-US" sz="3200" b="1" dirty="0">
                <a:solidFill>
                  <a:schemeClr val="accent2">
                    <a:lumMod val="75000"/>
                  </a:schemeClr>
                </a:solidFill>
              </a:rPr>
              <a:t>Why</a:t>
            </a:r>
            <a:endParaRPr lang="en-US" sz="3200" dirty="0">
              <a:solidFill>
                <a:schemeClr val="accent2">
                  <a:lumMod val="75000"/>
                </a:schemeClr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3200" dirty="0"/>
              <a:t>Helps customize store-level product strategy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3200" dirty="0"/>
              <a:t>Avoids one-size-fits-all approach</a:t>
            </a:r>
          </a:p>
          <a:p>
            <a:endParaRPr lang="en-US" sz="3200" dirty="0"/>
          </a:p>
          <a:p>
            <a:pPr>
              <a:buNone/>
            </a:pPr>
            <a:r>
              <a:rPr lang="en-US" sz="3200" b="1" dirty="0">
                <a:solidFill>
                  <a:schemeClr val="accent2">
                    <a:lumMod val="75000"/>
                  </a:schemeClr>
                </a:solidFill>
              </a:rPr>
              <a:t>Outcome</a:t>
            </a:r>
            <a:endParaRPr lang="en-US" sz="3200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US" sz="3200" dirty="0"/>
              <a:t>	City-specific product insights</a:t>
            </a:r>
          </a:p>
        </p:txBody>
      </p:sp>
    </p:spTree>
    <p:extLst>
      <p:ext uri="{BB962C8B-B14F-4D97-AF65-F5344CB8AC3E}">
        <p14:creationId xmlns:p14="http://schemas.microsoft.com/office/powerpoint/2010/main" val="36383025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A21799-B6B2-C651-F306-637627E4983A}"/>
              </a:ext>
            </a:extLst>
          </p:cNvPr>
          <p:cNvSpPr txBox="1"/>
          <p:nvPr/>
        </p:nvSpPr>
        <p:spPr>
          <a:xfrm>
            <a:off x="320842" y="208547"/>
            <a:ext cx="11566358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>
                <a:solidFill>
                  <a:srgbClr val="DF985C"/>
                </a:solidFill>
              </a:rPr>
              <a:t>Customer Base Strength</a:t>
            </a:r>
          </a:p>
          <a:p>
            <a:pPr>
              <a:buNone/>
            </a:pPr>
            <a:endParaRPr lang="en-US" sz="3200" b="1" dirty="0"/>
          </a:p>
          <a:p>
            <a:pPr>
              <a:buNone/>
            </a:pPr>
            <a:r>
              <a:rPr lang="en-US" sz="3200" b="1" dirty="0">
                <a:solidFill>
                  <a:schemeClr val="accent2">
                    <a:lumMod val="75000"/>
                  </a:schemeClr>
                </a:solidFill>
              </a:rPr>
              <a:t>Question</a:t>
            </a:r>
            <a:endParaRPr lang="en-US" sz="3200" dirty="0">
              <a:solidFill>
                <a:schemeClr val="accent2">
                  <a:lumMod val="75000"/>
                </a:schemeClr>
              </a:solidFill>
            </a:endParaRPr>
          </a:p>
          <a:p>
            <a:pPr lvl="1"/>
            <a:r>
              <a:rPr lang="en-US" sz="3200" dirty="0"/>
              <a:t>How many unique customers exist in each city?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3200" dirty="0"/>
          </a:p>
          <a:p>
            <a:pPr>
              <a:buNone/>
            </a:pPr>
            <a:r>
              <a:rPr lang="en-US" sz="3200" b="1" dirty="0">
                <a:solidFill>
                  <a:schemeClr val="accent2">
                    <a:lumMod val="75000"/>
                  </a:schemeClr>
                </a:solidFill>
              </a:rPr>
              <a:t>Why</a:t>
            </a:r>
            <a:endParaRPr lang="en-US" sz="3200" dirty="0">
              <a:solidFill>
                <a:schemeClr val="accent2">
                  <a:lumMod val="75000"/>
                </a:schemeClr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3200" dirty="0"/>
              <a:t>Strong customer base = lower risk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3200" dirty="0"/>
              <a:t>Indicates brand acceptance</a:t>
            </a:r>
          </a:p>
          <a:p>
            <a:endParaRPr lang="en-US" sz="3200" dirty="0"/>
          </a:p>
          <a:p>
            <a:pPr>
              <a:buNone/>
            </a:pPr>
            <a:r>
              <a:rPr lang="en-US" sz="3200" b="1" dirty="0">
                <a:solidFill>
                  <a:schemeClr val="accent2">
                    <a:lumMod val="75000"/>
                  </a:schemeClr>
                </a:solidFill>
              </a:rPr>
              <a:t>Outcome</a:t>
            </a:r>
            <a:endParaRPr lang="en-US" sz="3200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US" sz="3200" dirty="0"/>
              <a:t>	Cities with loyal &amp; recurring customers ranked higher</a:t>
            </a:r>
          </a:p>
        </p:txBody>
      </p:sp>
    </p:spTree>
    <p:extLst>
      <p:ext uri="{BB962C8B-B14F-4D97-AF65-F5344CB8AC3E}">
        <p14:creationId xmlns:p14="http://schemas.microsoft.com/office/powerpoint/2010/main" val="10669268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74203D-76EF-18C7-7849-1EC0EB85FF47}"/>
              </a:ext>
            </a:extLst>
          </p:cNvPr>
          <p:cNvSpPr txBox="1"/>
          <p:nvPr/>
        </p:nvSpPr>
        <p:spPr>
          <a:xfrm>
            <a:off x="136358" y="181957"/>
            <a:ext cx="11919284" cy="6494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>
                <a:solidFill>
                  <a:srgbClr val="DF985C"/>
                </a:solidFill>
              </a:rPr>
              <a:t>Average Sale vs Rent (Cost Analysis) </a:t>
            </a:r>
            <a:r>
              <a:rPr lang="en-US" sz="3200" b="1" dirty="0"/>
              <a:t>🔥</a:t>
            </a:r>
          </a:p>
          <a:p>
            <a:pPr>
              <a:buNone/>
            </a:pPr>
            <a:endParaRPr lang="en-US" sz="3200" b="1" dirty="0"/>
          </a:p>
          <a:p>
            <a:pPr>
              <a:buNone/>
            </a:pPr>
            <a:r>
              <a:rPr lang="en-US" sz="3200" b="1" dirty="0">
                <a:solidFill>
                  <a:schemeClr val="accent2">
                    <a:lumMod val="75000"/>
                  </a:schemeClr>
                </a:solidFill>
              </a:rPr>
              <a:t>Question</a:t>
            </a:r>
            <a:endParaRPr lang="en-US" sz="3200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US" sz="3200" dirty="0"/>
              <a:t>	Compare average sales per customer with rent per customer</a:t>
            </a:r>
          </a:p>
          <a:p>
            <a:endParaRPr lang="en-US" sz="3200" dirty="0"/>
          </a:p>
          <a:p>
            <a:pPr>
              <a:buNone/>
            </a:pPr>
            <a:r>
              <a:rPr lang="en-US" sz="3200" b="1" dirty="0">
                <a:solidFill>
                  <a:schemeClr val="accent2">
                    <a:lumMod val="75000"/>
                  </a:schemeClr>
                </a:solidFill>
              </a:rPr>
              <a:t>Why this is critical</a:t>
            </a:r>
            <a:endParaRPr lang="en-US" sz="3200" dirty="0">
              <a:solidFill>
                <a:schemeClr val="accent2">
                  <a:lumMod val="75000"/>
                </a:schemeClr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3200" dirty="0"/>
              <a:t>High sales + high rent ≠ profit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3200" dirty="0"/>
              <a:t>Expansion must be </a:t>
            </a:r>
            <a:r>
              <a:rPr lang="en-US" sz="3200" b="1" dirty="0"/>
              <a:t>financially sustainable</a:t>
            </a:r>
            <a:endParaRPr lang="en-US" sz="3200" dirty="0"/>
          </a:p>
          <a:p>
            <a:pPr>
              <a:buNone/>
            </a:pPr>
            <a:r>
              <a:rPr lang="en-US" sz="3200" b="1" dirty="0">
                <a:solidFill>
                  <a:schemeClr val="accent2">
                    <a:lumMod val="75000"/>
                  </a:schemeClr>
                </a:solidFill>
              </a:rPr>
              <a:t>Key Metric</a:t>
            </a:r>
            <a:endParaRPr lang="en-US" sz="3200" dirty="0">
              <a:solidFill>
                <a:schemeClr val="accent2">
                  <a:lumMod val="75000"/>
                </a:schemeClr>
              </a:solidFill>
            </a:endParaRPr>
          </a:p>
          <a:p>
            <a:pPr lvl="1"/>
            <a:r>
              <a:rPr lang="en-US" sz="3200" dirty="0">
                <a:latin typeface="Courier New" panose="02070309020205020404" pitchFamily="49" charset="0"/>
              </a:rPr>
              <a:t>Avg Rent </a:t>
            </a:r>
            <a:r>
              <a:rPr lang="en-US" sz="3200" dirty="0">
                <a:solidFill>
                  <a:srgbClr val="B66952"/>
                </a:solidFill>
                <a:latin typeface="Courier New" panose="02070309020205020404" pitchFamily="49" charset="0"/>
              </a:rPr>
              <a:t>per Customer</a:t>
            </a:r>
            <a:r>
              <a:rPr lang="en-US" sz="3200" dirty="0">
                <a:latin typeface="Courier New" panose="02070309020205020404" pitchFamily="49" charset="0"/>
              </a:rPr>
              <a:t> = Estimated Rent / Total Customers</a:t>
            </a:r>
          </a:p>
          <a:p>
            <a:pPr>
              <a:buNone/>
            </a:pPr>
            <a:r>
              <a:rPr lang="en-US" sz="3200" b="1" dirty="0">
                <a:solidFill>
                  <a:schemeClr val="accent2">
                    <a:lumMod val="75000"/>
                  </a:schemeClr>
                </a:solidFill>
              </a:rPr>
              <a:t>Insight</a:t>
            </a:r>
            <a:endParaRPr lang="en-US" sz="3200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US" sz="3200" dirty="0"/>
              <a:t>	Cities with </a:t>
            </a:r>
            <a:r>
              <a:rPr lang="en-US" sz="3200" b="1" dirty="0">
                <a:solidFill>
                  <a:srgbClr val="92D050"/>
                </a:solidFill>
              </a:rPr>
              <a:t>low rent &amp; high spend</a:t>
            </a:r>
            <a:r>
              <a:rPr lang="en-US" sz="3200" dirty="0">
                <a:solidFill>
                  <a:srgbClr val="92D050"/>
                </a:solidFill>
              </a:rPr>
              <a:t> </a:t>
            </a:r>
            <a:r>
              <a:rPr lang="en-US" sz="3200" dirty="0"/>
              <a:t>are ideal</a:t>
            </a:r>
          </a:p>
        </p:txBody>
      </p:sp>
    </p:spTree>
    <p:extLst>
      <p:ext uri="{BB962C8B-B14F-4D97-AF65-F5344CB8AC3E}">
        <p14:creationId xmlns:p14="http://schemas.microsoft.com/office/powerpoint/2010/main" val="41381998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5F406BA-279B-B09B-EF90-8162DA9E1BD6}"/>
              </a:ext>
            </a:extLst>
          </p:cNvPr>
          <p:cNvSpPr txBox="1"/>
          <p:nvPr/>
        </p:nvSpPr>
        <p:spPr>
          <a:xfrm>
            <a:off x="208546" y="674400"/>
            <a:ext cx="11438021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>
                <a:solidFill>
                  <a:srgbClr val="DF985C"/>
                </a:solidFill>
              </a:rPr>
              <a:t>Monthly Sales Growth Analysis</a:t>
            </a:r>
          </a:p>
          <a:p>
            <a:pPr>
              <a:buNone/>
            </a:pPr>
            <a:r>
              <a:rPr lang="en-US" sz="3200" b="1" dirty="0"/>
              <a:t>Question</a:t>
            </a:r>
            <a:endParaRPr lang="en-US" sz="3200" dirty="0"/>
          </a:p>
          <a:p>
            <a:r>
              <a:rPr lang="en-US" sz="3200" dirty="0"/>
              <a:t>	How are sales growing month-over-month?</a:t>
            </a:r>
          </a:p>
          <a:p>
            <a:pPr>
              <a:buNone/>
            </a:pPr>
            <a:r>
              <a:rPr lang="en-US" sz="3200" b="1" dirty="0"/>
              <a:t>SQL Concepts Used</a:t>
            </a:r>
            <a:endParaRPr lang="en-US" sz="32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3200" dirty="0">
                <a:latin typeface="Courier New" panose="02070309020205020404" pitchFamily="49" charset="0"/>
              </a:rPr>
              <a:t>LAG()</a:t>
            </a:r>
            <a:endParaRPr lang="en-US" sz="32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3200" dirty="0"/>
              <a:t>Window functions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3200" dirty="0"/>
              <a:t>Time-based analysis</a:t>
            </a:r>
          </a:p>
          <a:p>
            <a:pPr>
              <a:buNone/>
            </a:pPr>
            <a:r>
              <a:rPr lang="en-US" sz="3200" b="1" dirty="0"/>
              <a:t>Why</a:t>
            </a:r>
            <a:endParaRPr lang="en-US" sz="3200" dirty="0"/>
          </a:p>
          <a:p>
            <a:r>
              <a:rPr lang="en-US" sz="3200" dirty="0"/>
              <a:t>	Growth trend &gt; one-time high sales</a:t>
            </a:r>
          </a:p>
          <a:p>
            <a:pPr>
              <a:buNone/>
            </a:pPr>
            <a:r>
              <a:rPr lang="en-US" sz="3200" b="1" dirty="0"/>
              <a:t>Outcome</a:t>
            </a:r>
            <a:endParaRPr lang="en-US" sz="3200" dirty="0"/>
          </a:p>
          <a:p>
            <a:r>
              <a:rPr lang="en-US" sz="3200" dirty="0"/>
              <a:t>	Identified </a:t>
            </a:r>
            <a:r>
              <a:rPr lang="en-US" sz="3200" b="1" dirty="0">
                <a:solidFill>
                  <a:srgbClr val="92D050"/>
                </a:solidFill>
              </a:rPr>
              <a:t>stable &amp; growing cities</a:t>
            </a:r>
            <a:endParaRPr lang="en-US" sz="3200" dirty="0">
              <a:solidFill>
                <a:srgbClr val="92D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82755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B9919D0-DCFE-A077-72E0-9B16B758FFB9}"/>
              </a:ext>
            </a:extLst>
          </p:cNvPr>
          <p:cNvSpPr txBox="1"/>
          <p:nvPr/>
        </p:nvSpPr>
        <p:spPr>
          <a:xfrm>
            <a:off x="770021" y="428178"/>
            <a:ext cx="11165305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>
                <a:solidFill>
                  <a:srgbClr val="B54C2D"/>
                </a:solidFill>
              </a:rPr>
              <a:t>Final Market Potential Analysis</a:t>
            </a:r>
          </a:p>
          <a:p>
            <a:pPr>
              <a:buNone/>
            </a:pPr>
            <a:endParaRPr lang="en-US" sz="3200" b="1" dirty="0"/>
          </a:p>
          <a:p>
            <a:pPr>
              <a:buNone/>
            </a:pPr>
            <a:r>
              <a:rPr lang="en-US" sz="3200" b="1" dirty="0">
                <a:solidFill>
                  <a:srgbClr val="DDA147"/>
                </a:solidFill>
              </a:rPr>
              <a:t>Combined Metrics Used</a:t>
            </a:r>
            <a:endParaRPr lang="en-US" sz="3200" dirty="0">
              <a:solidFill>
                <a:srgbClr val="DDA147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3200" dirty="0"/>
              <a:t>Total revenue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3200" dirty="0"/>
              <a:t>Avg sales per customer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3200" dirty="0"/>
              <a:t>Total customers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3200" dirty="0"/>
              <a:t>Estimated coffee consumers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3200" dirty="0"/>
              <a:t>Rent impact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3200" dirty="0"/>
          </a:p>
          <a:p>
            <a:pPr>
              <a:buNone/>
            </a:pPr>
            <a:r>
              <a:rPr lang="en-US" sz="3200" b="1" dirty="0">
                <a:solidFill>
                  <a:srgbClr val="DDA147"/>
                </a:solidFill>
              </a:rPr>
              <a:t>Why combined approach</a:t>
            </a:r>
            <a:endParaRPr lang="en-US" sz="3200" dirty="0">
              <a:solidFill>
                <a:srgbClr val="DDA147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3200" dirty="0"/>
              <a:t>Prevents biased decision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3200" dirty="0"/>
              <a:t>Balanced risk vs reward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66DF3B-BDC7-0504-C24F-7990F63FFF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8245" y="1570997"/>
            <a:ext cx="5917081" cy="1760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4171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0870252-3757-10AC-8E00-A6136D7E52A6}"/>
              </a:ext>
            </a:extLst>
          </p:cNvPr>
          <p:cNvSpPr txBox="1"/>
          <p:nvPr/>
        </p:nvSpPr>
        <p:spPr>
          <a:xfrm>
            <a:off x="520182" y="498281"/>
            <a:ext cx="6097554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Final Recommendation – Top 3 Cities</a:t>
            </a:r>
          </a:p>
          <a:p>
            <a:pPr lvl="1"/>
            <a:endParaRPr lang="en-US" b="1" dirty="0">
              <a:ln w="0"/>
              <a:solidFill>
                <a:schemeClr val="accent2">
                  <a:lumMod val="40000"/>
                  <a:lumOff val="6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lvl="1"/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•Pune </a:t>
            </a:r>
          </a:p>
          <a:p>
            <a:pPr lvl="1"/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•Jaipur</a:t>
            </a:r>
          </a:p>
          <a:p>
            <a:pPr lvl="1"/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•Delhi</a:t>
            </a:r>
            <a:endParaRPr lang="en-US" b="1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Final Selection Based On</a:t>
            </a:r>
            <a:endParaRPr lang="en-US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High revenue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Strong customer base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High per-customer spend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Sustainable rent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Positive growth trend</a:t>
            </a:r>
          </a:p>
          <a:p>
            <a:endParaRPr lang="en-US" dirty="0"/>
          </a:p>
          <a:p>
            <a:pPr>
              <a:buNone/>
            </a:pPr>
            <a:r>
              <a:rPr lang="en-US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Business Impact</a:t>
            </a:r>
            <a:endParaRPr lang="en-US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Data-driven expansion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Reduced financial risk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Higher success probability</a:t>
            </a:r>
          </a:p>
        </p:txBody>
      </p:sp>
    </p:spTree>
    <p:extLst>
      <p:ext uri="{BB962C8B-B14F-4D97-AF65-F5344CB8AC3E}">
        <p14:creationId xmlns:p14="http://schemas.microsoft.com/office/powerpoint/2010/main" val="276617688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97</TotalTime>
  <Words>537</Words>
  <Application>Microsoft Office PowerPoint</Application>
  <PresentationFormat>Widescreen</PresentationFormat>
  <Paragraphs>155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Calisto MT</vt:lpstr>
      <vt:lpstr>Courier New</vt:lpstr>
      <vt:lpstr>Wingdings 2</vt:lpstr>
      <vt:lpstr>Slate</vt:lpstr>
      <vt:lpstr>Monday Coffee Expansion Analysis</vt:lpstr>
      <vt:lpstr>Business Objective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vidhi tyagi</dc:creator>
  <cp:lastModifiedBy>vidhi tyagi</cp:lastModifiedBy>
  <cp:revision>4</cp:revision>
  <dcterms:created xsi:type="dcterms:W3CDTF">2026-02-09T14:12:44Z</dcterms:created>
  <dcterms:modified xsi:type="dcterms:W3CDTF">2026-02-09T17:11:37Z</dcterms:modified>
</cp:coreProperties>
</file>